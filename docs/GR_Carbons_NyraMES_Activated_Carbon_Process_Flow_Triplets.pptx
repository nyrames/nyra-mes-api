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Nyra MES — Activated Carbon Process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1-month trial for GR Carbons</a:t>
            </a:r>
          </a:p>
          <a:p>
            <a:r>
              <a:t>Supplier inward → production lot → shop floor → finished goods → dispatch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Raw material: inward receipt, QC, release to production (PO + LOT)</a:t>
            </a:r>
          </a:p>
          <a:p>
            <a:pPr>
              <a:defRPr sz="2000"/>
            </a:pPr>
            <a:r>
              <a:t>Production gate: feasibility, kiln feed, lot routing</a:t>
            </a:r>
          </a:p>
          <a:p>
            <a:pPr>
              <a:defRPr sz="2000"/>
            </a:pPr>
            <a:r>
              <a:t>Shop-floor execution with step-wise data capture</a:t>
            </a:r>
          </a:p>
          <a:p>
            <a:pPr>
              <a:defRPr sz="2000"/>
            </a:pPr>
            <a:r>
              <a:t>Finished-goods in stock and customer dispatch</a:t>
            </a:r>
          </a:p>
          <a:p>
            <a:pPr>
              <a:defRPr sz="2000"/>
            </a:pPr>
            <a:r>
              <a:t>Dashboard, traceability, kiln parameters &amp; telemetry (as enabled)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 (bird's eye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SUPPLIER INWARD → RAW MATERIAL QC → RELEASE TO PRODUCTION</a:t>
            </a:r>
          </a:p>
          <a:p>
            <a:pPr>
              <a:defRPr sz="2000"/>
            </a:pPr>
            <a:r>
              <a:t>↓</a:t>
            </a:r>
          </a:p>
          <a:p>
            <a:pPr>
              <a:defRPr sz="2000"/>
            </a:pPr>
            <a:r>
              <a:t>FEASIBILITY GATE → KILN FEED → LOT ROUTING → EXECUTION</a:t>
            </a:r>
          </a:p>
          <a:p>
            <a:pPr>
              <a:defRPr sz="2000"/>
            </a:pPr>
            <a:r>
              <a:t>↓</a:t>
            </a:r>
          </a:p>
          <a:p>
            <a:pPr>
              <a:defRPr sz="2000"/>
            </a:pPr>
            <a:r>
              <a:t>FINISHED GOODS IN STOCK → DISPATCH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Inward order: ORD-AC-*  ·  Production lot: LOT-AC-*  ·  Work orders from routing</a:t>
            </a:r>
          </a:p>
          <a:p>
            <a:pPr>
              <a:defRPr sz="2000"/>
            </a:pPr>
            <a:r>
              <a:t>After release, operators and planners work on LOT codes, not inward orders.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— Raw material (3 screens)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Inward — supplier, raw material type, quantity received (KG)</a:t>
            </a:r>
          </a:p>
          <a:p>
            <a:pPr>
              <a:defRPr sz="2000"/>
            </a:pPr>
            <a:r>
              <a:t>2. Raw material QC — lab/yard tests; Pass / Fail / Hold</a:t>
            </a:r>
          </a:p>
          <a:p>
            <a:pPr>
              <a:defRPr sz="2000"/>
            </a:pPr>
            <a:r>
              <a:t>3. Release to production — allocate KG; creates production order + LOT-AC-*</a:t>
            </a:r>
          </a:p>
          <a:p>
            <a:pPr>
              <a:defRPr sz="2000"/>
            </a:pPr>
            <a:r>
              <a:t>Release may create one lot or multiple lots (one per bag grade when grade splits exist).</a:t>
            </a:r>
          </a:p>
          <a:p>
            <a:pPr>
              <a:defRPr sz="2000"/>
            </a:pPr>
            <a:r>
              <a:t>All weights in KG unless noted as % on QC 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captured — raw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Inward</a:t>
            </a:r>
          </a:p>
          <a:p>
            <a:pPr>
              <a:defRPr sz="1600"/>
            </a:pPr>
            <a:r>
              <a:t>Supplier</a:t>
            </a:r>
          </a:p>
          <a:p>
            <a:pPr>
              <a:defRPr sz="1600"/>
            </a:pPr>
            <a:r>
              <a:t>Raw material type</a:t>
            </a:r>
          </a:p>
          <a:p>
            <a:pPr>
              <a:defRPr sz="1600"/>
            </a:pPr>
            <a:r>
              <a:t>Quantity received (KG)</a:t>
            </a:r>
          </a:p>
          <a:p>
            <a:pPr>
              <a:defRPr sz="1600"/>
            </a:pPr>
            <a:r>
              <a:t>Optional / extensible: DC number, supplier weight (KG), value (INR)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28016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Raw material QC (configurable)</a:t>
            </a:r>
          </a:p>
          <a:p>
            <a:pPr>
              <a:defRPr sz="1600"/>
            </a:pPr>
            <a:r>
              <a:t>Moisture, ash, foreign matter (%)</a:t>
            </a:r>
          </a:p>
          <a:p>
            <a:pPr>
              <a:defRPr sz="1600"/>
            </a:pPr>
            <a:r>
              <a:t>Stones, unburnt, -20 mesh fines (KG)</a:t>
            </a:r>
          </a:p>
          <a:p>
            <a:pPr>
              <a:defRPr sz="1600"/>
            </a:pPr>
            <a:r>
              <a:t>QC status &amp; operator remarks</a:t>
            </a:r>
          </a:p>
          <a:p>
            <a:pPr>
              <a:defRPr sz="1600"/>
            </a:pPr>
            <a:r>
              <a:t>Stored on inward order; feasibility checks QC passed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inbound depth (platform capability)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Same inward order can also store: initial QC (moisture, dust, AD)</a:t>
            </a:r>
          </a:p>
          <a:p>
            <a:pPr>
              <a:defRPr sz="2000"/>
            </a:pPr>
            <a:r>
              <a:t>Bag split &amp; reconcile → weight to crusher</a:t>
            </a:r>
          </a:p>
          <a:p>
            <a:pPr>
              <a:defRPr sz="2000"/>
            </a:pPr>
            <a:r>
              <a:t>Crusher: rotary A/B; mesh scrap +2 … -14 (KG); moisture &amp; dust (%)</a:t>
            </a:r>
          </a:p>
          <a:p>
            <a:pPr>
              <a:defRPr sz="2000"/>
            </a:pPr>
            <a:r>
              <a:t>Six bag-grade splits → mass balance &amp; multi-lot release</a:t>
            </a:r>
          </a:p>
          <a:p>
            <a:pPr>
              <a:defRPr sz="2000"/>
            </a:pPr>
            <a:r>
              <a:t>Primary trial UI: Inward + QC + Release — extended steps aligned with GR SOP in 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Inbound — triplet ontology (order-scoped)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Subject: urn:nyra:ac:inward:{ORD-AC-code} (before release)</a:t>
            </a:r>
          </a:p>
          <a:p>
            <a:pPr>
              <a:defRPr sz="2000"/>
            </a:pPr>
            <a:r>
              <a:t>Inward receipt — supplies / captures: DC, supplier weight, received KG, value INR</a:t>
            </a:r>
          </a:p>
          <a:p>
            <a:pPr>
              <a:defRPr sz="2000"/>
            </a:pPr>
            <a:r>
              <a:t>Initial QC — testedBy → initialQc; moisture, dust, AD parameters</a:t>
            </a:r>
          </a:p>
          <a:p>
            <a:pPr>
              <a:defRPr sz="2000"/>
            </a:pPr>
            <a:r>
              <a:t>Bags — containedIn; crusher &amp; grade separation — captures mesh scrap &amp; grade KG</a:t>
            </a:r>
          </a:p>
          <a:p>
            <a:pPr>
              <a:defRPr sz="2000"/>
            </a:pPr>
            <a:r>
              <a:t>Raw Material QC tab — testedBy → rawMaterialQc; stones / unburnt / -20 KG predicates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— Production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Feasibility Gate — select LOT-AC-*; checks material (QC), kiln availability, resources</a:t>
            </a:r>
          </a:p>
          <a:p>
            <a:pPr>
              <a:defRPr sz="2000"/>
            </a:pPr>
            <a:r>
              <a:t>Kiln Feed — charge activation kiln; lot IN_PROGRESS</a:t>
            </a:r>
          </a:p>
          <a:p>
            <a:pPr>
              <a:defRPr sz="2000"/>
            </a:pPr>
            <a:r>
              <a:t>Lot Routing — generate work orders from raw-material routing template (Masters)</a:t>
            </a:r>
          </a:p>
          <a:p>
            <a:pPr>
              <a:defRPr sz="2000"/>
            </a:pPr>
            <a:r>
              <a:t>Routing defines pyrolysis, activation, screening, grade separation, FG QC,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Triplet ontology — what it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Semantic trace layer: kg.triple_store_staging (PostgreSQL) + MES operational tables</a:t>
            </a:r>
          </a:p>
          <a:p>
            <a:pPr>
              <a:defRPr sz="2000"/>
            </a:pPr>
            <a:r>
              <a:t>Each save can stage subject · predicate · object (+ literal parameters)</a:t>
            </a:r>
          </a:p>
          <a:p>
            <a:pPr>
              <a:defRPr sz="2000"/>
            </a:pPr>
            <a:r>
              <a:t>Inward steps use subject: urn:nyra:ac:inward:{ORD-AC-*}</a:t>
            </a:r>
          </a:p>
          <a:p>
            <a:pPr>
              <a:defRPr sz="2000"/>
            </a:pPr>
            <a:r>
              <a:t>After release, production &amp; execution use: urn:nyra:ac:lot:{LOT-AC-*}</a:t>
            </a:r>
          </a:p>
          <a:p>
            <a:pPr>
              <a:defRPr sz="2000"/>
            </a:pPr>
            <a:r>
              <a:t>Same data operators enter in UI — triples enable traceability, analytics, Ask Nyra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— Shop-floor execution (operational data)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Every routing step (Execution screen)</a:t>
            </a:r>
          </a:p>
          <a:p>
            <a:pPr>
              <a:defRPr sz="1600"/>
            </a:pPr>
            <a:r>
              <a:t>Start · Complete · Hold on each work order</a:t>
            </a:r>
          </a:p>
          <a:p>
            <a:pPr>
              <a:defRPr sz="1600"/>
            </a:pPr>
            <a:r>
              <a:t>Actual output (KG) · Scrap (KG) · Downtime (min)</a:t>
            </a:r>
          </a:p>
          <a:p>
            <a:pPr>
              <a:defRPr sz="1600"/>
            </a:pPr>
            <a:r>
              <a:t>Operator / labor pool · Machine when required</a:t>
            </a:r>
          </a:p>
          <a:p>
            <a:pPr>
              <a:defRPr sz="1600"/>
            </a:pPr>
            <a:r>
              <a:t>Routing parameters (temps, steam, time, …) on complete</a:t>
            </a:r>
          </a:p>
          <a:p>
            <a:pPr>
              <a:defRPr sz="1600"/>
            </a:pPr>
            <a:r>
              <a:t>Stored: exec.operation_execution + parameter 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28016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Dedicated step panels (Execution)</a:t>
            </a:r>
          </a:p>
          <a:p>
            <a:pPr>
              <a:defRPr sz="1600"/>
            </a:pPr>
            <a:r>
              <a:t>SCREENING — mesh; good / overs / fines (KG)</a:t>
            </a:r>
          </a:p>
          <a:p>
            <a:pPr>
              <a:defRPr sz="1600"/>
            </a:pPr>
            <a:r>
              <a:t>GRADE_SEPARATION — grade code; separated KG; yield</a:t>
            </a:r>
          </a:p>
          <a:p>
            <a:pPr>
              <a:defRPr sz="1600"/>
            </a:pPr>
            <a:r>
              <a:t>QC — iodine, ash, moisture, bulk density; disposition</a:t>
            </a:r>
          </a:p>
          <a:p>
            <a:pPr>
              <a:defRPr sz="1600"/>
            </a:pPr>
            <a:r>
              <a:t>Release to in-stock moves lot to FG stock when pipeline complete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— triplet ontology (lot-scoped)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Subject for all rows below: urn:nyra:ac:lot:{LOT-AC-code}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SCREENING (on save in Execution)</a:t>
            </a:r>
          </a:p>
          <a:p>
            <a:pPr>
              <a:defRPr sz="2000"/>
            </a:pPr>
            <a:r>
              <a:t>  • screenedAt → urn:nyra:ac:screening:{execution_code}</a:t>
            </a:r>
          </a:p>
          <a:p>
            <a:pPr>
              <a:defRPr sz="2000"/>
            </a:pPr>
            <a:r>
              <a:t>  • captures: SCREEN_MESH_SIZE, GOOD_KG, OVERS_KG, FINES_KG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GRADE SEPARATION (on save in Execution)</a:t>
            </a:r>
          </a:p>
          <a:p>
            <a:pPr>
              <a:defRPr sz="2000"/>
            </a:pPr>
            <a:r>
              <a:t>  • captures → urn:nyra:ac:gradeSeparation:{execution_code}</a:t>
            </a:r>
          </a:p>
          <a:p>
            <a:pPr>
              <a:defRPr sz="2000"/>
            </a:pPr>
            <a:r>
              <a:t>  • captures: GRADE_CODE, SEPARATED_KG, GRADE_YIELD_PCT, OVERS_GRADE_KG, FINES_GRADE_KG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— triplet ontology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QUALITY TESTING (on save — Release to in-stock)</a:t>
            </a:r>
          </a:p>
          <a:p>
            <a:pPr>
              <a:defRPr sz="2000"/>
            </a:pPr>
            <a:r>
              <a:t>  • testedBy → urn:nyra:ac:qualityCheck:{QC-AC-code} (ontology)</a:t>
            </a:r>
          </a:p>
          <a:p>
            <a:pPr>
              <a:defRPr sz="2000"/>
            </a:pPr>
            <a:r>
              <a:t>  • Lab values in qms.quality_check metadata (iodine, ash, moisture, bulk density)</a:t>
            </a:r>
          </a:p>
          <a:p>
            <a:pPr>
              <a:defRPr sz="2000"/>
            </a:pPr>
            <a:r>
              <a:t>  • hasIodineValue staged on lot when iodine entered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DISPATCH (when shipping)</a:t>
            </a:r>
          </a:p>
          <a:p>
            <a:pPr>
              <a:defRPr sz="2000"/>
            </a:pPr>
            <a:r>
              <a:t>  • dispatchedTo — lot linked to customer shipment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Pyrolysis / activation / kiln hourly params: operational executions + lot metadata</a:t>
            </a:r>
          </a:p>
          <a:p>
            <a:pPr>
              <a:defRPr sz="2000"/>
            </a:pPr>
            <a:r>
              <a:t>  (extend triple parameters in trial where GR needs explicit KG predicates)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Pre-execution triples (same lot subject)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Feasibility Gate — feasibilityChecked → urn:nyra:ac:feasibility:{lot}</a:t>
            </a:r>
          </a:p>
          <a:p>
            <a:pPr>
              <a:defRPr sz="2000"/>
            </a:pPr>
            <a:r>
              <a:t>Kiln Feed — assignedTo → urn:nyra:ac:kiln:{kiln_resource_code}</a:t>
            </a:r>
          </a:p>
          <a:p>
            <a:pPr>
              <a:defRPr sz="2000"/>
            </a:pPr>
            <a:r>
              <a:t>Lot Routing — generates → urn:nyra:ac:routing:{lot}</a:t>
            </a:r>
          </a:p>
          <a:p>
            <a:pPr>
              <a:defRPr sz="2000"/>
            </a:pPr>
            <a:r>
              <a:t>Links planner actions to the same LOT-AC-* trace chain as Execution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— Stock &amp; 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Release to in-stock — when routing complete, screening recorded, QC passed</a:t>
            </a:r>
          </a:p>
          <a:p>
            <a:pPr>
              <a:defRPr sz="2000"/>
            </a:pPr>
            <a:r>
              <a:t>Lot status &amp; FG stock updated — visible on Dispatch</a:t>
            </a:r>
          </a:p>
          <a:p>
            <a:pPr>
              <a:defRPr sz="2000"/>
            </a:pPr>
            <a:r>
              <a:t>Customer PO — order against finished product; stock check</a:t>
            </a:r>
          </a:p>
          <a:p>
            <a:pPr>
              <a:defRPr sz="2000"/>
            </a:pPr>
            <a:r>
              <a:t>Dispatch — ship from in-stock by grade; traceability ORD → LOT → QC → dispatch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Operational Intelligence Hub — KPIs, pipeline, kiln strip</a:t>
            </a:r>
          </a:p>
          <a:p>
            <a:pPr>
              <a:defRPr sz="2000"/>
            </a:pPr>
            <a:r>
              <a:t>Kiln parameters — hourly / zone readings per lot</a:t>
            </a:r>
          </a:p>
          <a:p>
            <a:pPr>
              <a:defRPr sz="2000"/>
            </a:pPr>
            <a:r>
              <a:t>Kiln telemetry — live Modbus path (testbed)</a:t>
            </a:r>
          </a:p>
          <a:p>
            <a:pPr>
              <a:defRPr sz="2000"/>
            </a:pPr>
            <a:r>
              <a:t>Masters — suppliers, materials, kilns, routing template, QC/quality fields</a:t>
            </a:r>
          </a:p>
          <a:p>
            <a:pPr>
              <a:defRPr sz="2000"/>
            </a:pPr>
            <a:r>
              <a:t>Reports, traceability, bag tracing (capabilities per tenant)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Configured for GR Carbons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Raw material types and fixed routing per feedstock</a:t>
            </a:r>
          </a:p>
          <a:p>
            <a:pPr>
              <a:defRPr sz="2000"/>
            </a:pPr>
            <a:r>
              <a:t>QC &amp; finished-goods quality fields (Masters → Ontology)</a:t>
            </a:r>
          </a:p>
          <a:p>
            <a:pPr>
              <a:defRPr sz="2000"/>
            </a:pPr>
            <a:r>
              <a:t>Plant resources — kilns, labor pools, tools</a:t>
            </a:r>
          </a:p>
          <a:p>
            <a:pPr>
              <a:defRPr sz="2000"/>
            </a:pPr>
            <a:r>
              <a:t>Grade names &amp; mesh bands — workshop with GR during trial</a:t>
            </a:r>
          </a:p>
          <a:p>
            <a:pPr>
              <a:defRPr sz="2000"/>
            </a:pPr>
            <a:r>
              <a:t>Trial validates your SOP against this model, not a generic demo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Trial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URL: https://nyraservices-testbed.net/mes/</a:t>
            </a:r>
          </a:p>
          <a:p>
            <a:pPr>
              <a:defRPr sz="2000"/>
            </a:pPr>
            <a:r>
              <a:t>Module: Activated Carbon · secure login (GR tenant / workspace)</a:t>
            </a:r>
          </a:p>
          <a:p>
            <a:pPr>
              <a:defRPr sz="2000"/>
            </a:pPr>
            <a:r>
              <a:t>Architecture: PostgreSQL nyra_mes_core, REST API, audit trail</a:t>
            </a:r>
          </a:p>
          <a:p>
            <a:pPr>
              <a:defRPr sz="2000"/>
            </a:pPr>
            <a:r>
              <a:t>Suggested pilot: one inward → QC → release → one lot through feasibility, kiln, routing, execution, in-stock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— what else should we capture?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Mandatory inward fields (DC, weighbridge, commercial value)?</a:t>
            </a:r>
          </a:p>
          <a:p>
            <a:pPr>
              <a:defRPr sz="2000"/>
            </a:pPr>
            <a:r>
              <a:t>Crusher / bag / mesh scrap on every receipt — UI priority?</a:t>
            </a:r>
          </a:p>
          <a:p>
            <a:pPr>
              <a:defRPr sz="2000"/>
            </a:pPr>
            <a:r>
              <a:t>Actual routing steps vs plant (kiln → activation → screening → QC)?</a:t>
            </a:r>
          </a:p>
          <a:p>
            <a:pPr>
              <a:defRPr sz="2000"/>
            </a:pPr>
            <a:r>
              <a:t>Mandatory lab tests on raw vs finished carbon?</a:t>
            </a:r>
          </a:p>
          <a:p>
            <a:pPr>
              <a:defRPr sz="2000"/>
            </a:pPr>
            <a:r>
              <a:t>COA, certificates, photos? PLC / weighbridge / LIMS later?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One chain: Supplier → QC → Lot → Kiln → Execute → Stock → Dispatch</a:t>
            </a:r>
          </a:p>
          <a:p>
            <a:pPr>
              <a:defRPr sz="2000"/>
            </a:pPr>
            <a:r>
              <a:t>Lot-centric after release (LOT-AC-*)</a:t>
            </a:r>
          </a:p>
          <a:p>
            <a:pPr>
              <a:defRPr sz="2000"/>
            </a:pPr>
            <a:r>
              <a:t>Operational data + triplet ontology on key execution steps (screening, grades, QC)</a:t>
            </a:r>
          </a:p>
          <a:p>
            <a:pPr>
              <a:defRPr sz="2000"/>
            </a:pPr>
            <a:r>
              <a:t>Configurable for GR Carbons grades, tests, and routing</a:t>
            </a:r>
          </a:p>
          <a:p>
            <a:pPr>
              <a:defRPr sz="2000"/>
            </a:pPr>
            <a:r>
              <a:t>Next: joint testbed walkthrough + configuration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